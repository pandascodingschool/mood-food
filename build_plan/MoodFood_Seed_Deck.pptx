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203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E2032"/>
                </a:solidFill>
                <a:latin typeface="Calibri"/>
              </a:rPr>
              <a:t>Global online food delivery (US$B)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TAM ($B)</c:v>
                </c:pt>
              </c:strCache>
            </c:strRef>
          </c:tx>
          <c:spPr>
            <a:solidFill>
              <a:srgbClr val="9FB0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0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FB0B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B6A0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2030E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288.8</c:v>
                </c:pt>
                <c:pt idx="1">
                  <c:v>505.5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E20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203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E2032"/>
                </a:solidFill>
                <a:latin typeface="Calibri"/>
              </a:rPr>
              <a:t>India online food delivery (US$B)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India SAM ($B)</c:v>
                </c:pt>
              </c:strCache>
            </c:strRef>
          </c:tx>
          <c:spPr>
            <a:solidFill>
              <a:srgbClr val="9FB0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0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FB0B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4122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2034E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55.6</c:v>
                </c:pt>
                <c:pt idx="1">
                  <c:v>337.2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E20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C6B7A"/>
                </a:solidFill>
                <a:latin typeface="Arial"/>
              </a:rPr>
              <a:t>Illustrative long-run revenue mix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B6A03"/>
              </a:solidFill>
              <a:effectLst/>
            </c:spPr>
          </c:dPt>
          <c:dPt>
            <c:idx val="1"/>
            <c:bubble3D val="0"/>
            <c:spPr>
              <a:solidFill>
                <a:srgbClr val="041221"/>
              </a:solidFill>
              <a:effectLst/>
            </c:spPr>
          </c:dPt>
          <c:dPt>
            <c:idx val="2"/>
            <c:bubble3D val="0"/>
            <c:spPr>
              <a:solidFill>
                <a:srgbClr val="40910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Order commission</c:v>
                </c:pt>
                <c:pt idx="1">
                  <c:v>MoodFood+ subscription</c:v>
                </c:pt>
                <c:pt idx="2">
                  <c:v>Partner insights (future)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30</c:v>
                </c:pt>
                <c:pt idx="2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Weekly active pilot testers (target)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active testers</c:v>
                </c:pt>
              </c:strCache>
            </c:strRef>
          </c:tx>
          <c:spPr>
            <a:solidFill>
              <a:srgbClr val="FB6A0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E20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Wk 1</c:v>
                  </c:pt>
                  <c:pt idx="1">
                    <c:v>Wk 4</c:v>
                  </c:pt>
                  <c:pt idx="2">
                    <c:v>Wk 8</c:v>
                  </c:pt>
                  <c:pt idx="3">
                    <c:v>Wk 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410</c:v>
                </c:pt>
                <c:pt idx="2">
                  <c:v>980</c:v>
                </c:pt>
                <c:pt idx="3">
                  <c:v>1850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0E20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Avg. questions asked before ordering (target)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questions per order</c:v>
                </c:pt>
              </c:strCache>
            </c:strRef>
          </c:tx>
          <c:spPr>
            <a:solidFill>
              <a:srgbClr val="041221"/>
            </a:solidFill>
            <a:ln w="38100" cap="flat">
              <a:solidFill>
                <a:srgbClr val="04122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E2032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41221"/>
              </a:solidFill>
              <a:ln w="9525" cap="flat">
                <a:solidFill>
                  <a:srgbClr val="04122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Wk 1</c:v>
                  </c:pt>
                  <c:pt idx="1">
                    <c:v>Wk 4</c:v>
                  </c:pt>
                  <c:pt idx="2">
                    <c:v>Wk 8</c:v>
                  </c:pt>
                  <c:pt idx="3">
                    <c:v>Wk 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2.1</c:v>
                </c:pt>
                <c:pt idx="2">
                  <c:v>1.2</c:v>
                </c:pt>
                <c:pt idx="3">
                  <c:v>0.4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0E2032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9D3D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C9D3DA"/>
                </a:solidFill>
                <a:latin typeface="Arial"/>
              </a:rPr>
              <a:t>Use of funds (illustrative)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B6A03"/>
              </a:solidFill>
              <a:effectLst/>
            </c:spPr>
          </c:dPt>
          <c:dPt>
            <c:idx val="1"/>
            <c:bubble3D val="0"/>
            <c:spPr>
              <a:solidFill>
                <a:srgbClr val="1C3247"/>
              </a:solidFill>
              <a:effectLst/>
            </c:spPr>
          </c:dPt>
          <c:dPt>
            <c:idx val="2"/>
            <c:bubble3D val="0"/>
            <c:spPr>
              <a:solidFill>
                <a:srgbClr val="40910E"/>
              </a:solidFill>
              <a:effectLst/>
            </c:spPr>
          </c:dPt>
          <c:dPt>
            <c:idx val="3"/>
            <c:bubble3D val="0"/>
            <c:spPr>
              <a:solidFill>
                <a:srgbClr val="9FB0B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Engineering / ML</c:v>
                </c:pt>
                <c:pt idx="1">
                  <c:v>GTM &amp; pilot</c:v>
                </c:pt>
                <c:pt idx="2">
                  <c:v>Founding team</c:v>
                </c:pt>
                <c:pt idx="3">
                  <c:v>Ops &amp; legal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645920"/>
            <a:ext cx="4937760" cy="4937760"/>
          </a:xfrm>
          <a:prstGeom prst="ellipse">
            <a:avLst/>
          </a:prstGeom>
          <a:solidFill>
            <a:srgbClr val="FB6A03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206240" cy="4206240"/>
          </a:xfrm>
          <a:prstGeom prst="ellipse">
            <a:avLst/>
          </a:prstGeom>
          <a:solidFill>
            <a:srgbClr val="1C3247">
              <a:alpha val="70000"/>
            </a:srgbClr>
          </a:solidFill>
          <a:ln/>
        </p:spPr>
      </p:sp>
      <p:pic>
        <p:nvPicPr>
          <p:cNvPr id="4" name="Image 0" descr="/sessions/peaceful-confident-einstein/mnt/outputs/moodfood-logo-darkbg-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4399"/>
            <a:ext cx="4114800" cy="40148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94960" y="16916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 DECK   ·  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394960" y="21488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food companion that knows what you're craving — before you do.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394960" y="37947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decision fatigue in online food ordering with an AI that learns through play, not paperwork.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—  prepared for investor review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Ordering food shouldn't feel like a chore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starts the same way: an open app, an endless scroll, and the same tired question.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3429000"/>
          </a:xfrm>
          <a:prstGeom prst="roundRect">
            <a:avLst>
              <a:gd name="adj" fmla="val 2667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286000"/>
            <a:ext cx="502920" cy="502920"/>
          </a:xfrm>
          <a:prstGeom prst="ellipse">
            <a:avLst/>
          </a:prstGeom>
          <a:solidFill>
            <a:srgbClr val="FB6A03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 overload is measurable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0120" y="379476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Eye-tracking studies show long menus raise cognitive effort and decision fatigue — shorter, curated lists convert better than long ones.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53128" y="1965960"/>
            <a:ext cx="3520440" cy="3429000"/>
          </a:xfrm>
          <a:prstGeom prst="roundRect">
            <a:avLst>
              <a:gd name="adj" fmla="val 2667"/>
            </a:avLst>
          </a:prstGeom>
          <a:solidFill>
            <a:srgbClr val="F3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4773168" y="2286000"/>
            <a:ext cx="502920" cy="502920"/>
          </a:xfrm>
          <a:prstGeom prst="ellipse">
            <a:avLst/>
          </a:prstGeom>
          <a:solidFill>
            <a:srgbClr val="FB6A03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73168" y="3017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Overload breeds paralysis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773168" y="379476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on food-app choice overload links too many options to decision paralysis and lower satisfaction, especially for time-pressed users.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66176" y="1965960"/>
            <a:ext cx="3520440" cy="3429000"/>
          </a:xfrm>
          <a:prstGeom prst="roundRect">
            <a:avLst>
              <a:gd name="adj" fmla="val 2667"/>
            </a:avLst>
          </a:prstGeom>
          <a:solidFill>
            <a:srgbClr val="F3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8586216" y="2286000"/>
            <a:ext cx="502920" cy="502920"/>
          </a:xfrm>
          <a:prstGeom prst="ellipse">
            <a:avLst/>
          </a:prstGeom>
          <a:solidFill>
            <a:srgbClr val="FB6A03"/>
          </a:solidFill>
          <a:ln/>
        </p:spPr>
      </p:sp>
      <p:sp>
        <p:nvSpPr>
          <p:cNvPr id="17" name="Text 15"/>
          <p:cNvSpPr/>
          <p:nvPr/>
        </p:nvSpPr>
        <p:spPr>
          <a:xfrm>
            <a:off x="8586216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86216" y="3017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Fatigue causes defaulting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586216" y="379476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cognitive overload, people delay the decision or default to the same familiar order — regardless of what they actually want that day.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International Journal of Engineering, Management &amp; Science (choice overload in food apps); ResearchGate, “Time of day &amp; decision fatigue in online food choice.”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6586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Consumers already expect AI to know them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04122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D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consumers say a restaurant remembering their preferences changes how often they choose it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3F5F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069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B6A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$505.5B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68680" y="4937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online food delivery market by 2030, up from $288.8B in 2024 (9.4% CAGR)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17720" y="146304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today's “AI” is still shallow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617720" y="2148840"/>
            <a:ext cx="384048" cy="384048"/>
          </a:xfrm>
          <a:prstGeom prst="ellipse">
            <a:avLst/>
          </a:prstGeom>
          <a:solidFill>
            <a:srgbClr val="041221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57800" y="2093976"/>
            <a:ext cx="6263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DoorDash's Sybil  </a:t>
            </a:r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restaurant demand and Dasher routing — operational AI, not personal taste.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17720" y="2926080"/>
            <a:ext cx="384048" cy="384048"/>
          </a:xfrm>
          <a:prstGeom prst="ellipse">
            <a:avLst/>
          </a:prstGeom>
          <a:solidFill>
            <a:srgbClr val="041221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57800" y="2871216"/>
            <a:ext cx="6263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Eats  </a:t>
            </a:r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past orders and discounts — reactive to history, blind to how you feel right now.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617720" y="3703320"/>
            <a:ext cx="384048" cy="384048"/>
          </a:xfrm>
          <a:prstGeom prst="ellipse">
            <a:avLst/>
          </a:prstGeom>
          <a:solidFill>
            <a:srgbClr val="041221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57800" y="3648456"/>
            <a:ext cx="6263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&amp; Zomato  </a:t>
            </a:r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search ranking, but still hand every user the same scroll-and-decide model.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17720" y="4709160"/>
            <a:ext cx="6903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ask how you feel, learn through play, or get out of your way as they learn. That gap is MoodFood.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DoorDash 2026 Restaurant Industry Trends Report; Grand View Research, “Online Food Delivery Services Market Report, 2025-2030.”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6586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1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MoodFood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food companion that learns you through play — then quietly gets out of your way.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1C3247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468880"/>
            <a:ext cx="502920" cy="502920"/>
          </a:xfrm>
          <a:prstGeom prst="ellipse">
            <a:avLst/>
          </a:prstGeom>
          <a:solidFill>
            <a:srgbClr val="FB6A03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12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Feels your mood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93192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check-ins on energy, stress, hunger and context feed one continuously-updated taste model — not a static form.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53128" y="214884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1C3247"/>
          </a:solidFill>
          <a:ln/>
        </p:spPr>
      </p:sp>
      <p:sp>
        <p:nvSpPr>
          <p:cNvPr id="11" name="Shape 9"/>
          <p:cNvSpPr/>
          <p:nvPr/>
        </p:nvSpPr>
        <p:spPr>
          <a:xfrm>
            <a:off x="4773168" y="2468880"/>
            <a:ext cx="502920" cy="502920"/>
          </a:xfrm>
          <a:prstGeom prst="ellipse">
            <a:avLst/>
          </a:prstGeom>
          <a:solidFill>
            <a:srgbClr val="FB6A03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12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73168" y="32461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Learns through games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73168" y="393192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Swipes, duels, cravings and vetoes replace tedious preference forms with 30-second, sticky micro-games.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66176" y="214884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1C3247"/>
          </a:solidFill>
          <a:ln/>
        </p:spPr>
      </p:sp>
      <p:sp>
        <p:nvSpPr>
          <p:cNvPr id="16" name="Shape 14"/>
          <p:cNvSpPr/>
          <p:nvPr/>
        </p:nvSpPr>
        <p:spPr>
          <a:xfrm>
            <a:off x="8586216" y="2468880"/>
            <a:ext cx="502920" cy="502920"/>
          </a:xfrm>
          <a:prstGeom prst="ellipse">
            <a:avLst/>
          </a:prstGeom>
          <a:solidFill>
            <a:srgbClr val="FB6A03"/>
          </a:solidFill>
          <a:ln/>
        </p:spPr>
      </p:sp>
      <p:sp>
        <p:nvSpPr>
          <p:cNvPr id="17" name="Text 15"/>
          <p:cNvSpPr/>
          <p:nvPr/>
        </p:nvSpPr>
        <p:spPr>
          <a:xfrm>
            <a:off x="8586216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12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86216" y="32461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Gets out of your way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86216" y="393192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confidence rises, the question budget shrinks — toward a “mind-reader” mode that recommends with zero questions asked.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6586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evolving user model, fed by everything you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F3F5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FB6A0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1214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Swipes, duels, mood check-ins, vetoes, orders and post-meal ratings — every interaction is logged as one signal type.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91840" y="329184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D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11296" y="182880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F3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3785616" y="2103120"/>
            <a:ext cx="457200" cy="457200"/>
          </a:xfrm>
          <a:prstGeom prst="ellipse">
            <a:avLst/>
          </a:prstGeom>
          <a:solidFill>
            <a:srgbClr val="FB6A03"/>
          </a:solidFill>
          <a:ln/>
        </p:spPr>
      </p:sp>
      <p:sp>
        <p:nvSpPr>
          <p:cNvPr id="12" name="Text 10"/>
          <p:cNvSpPr/>
          <p:nvPr/>
        </p:nvSpPr>
        <p:spPr>
          <a:xfrm>
            <a:off x="378561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85616" y="274320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user model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85616" y="3520440"/>
            <a:ext cx="21214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taste vector, mood→food map, and per-context trade-off weights update continuously from that signal stream.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63056" y="329184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D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82512" y="182880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F3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656832" y="2103120"/>
            <a:ext cx="457200" cy="457200"/>
          </a:xfrm>
          <a:prstGeom prst="ellipse">
            <a:avLst/>
          </a:prstGeom>
          <a:solidFill>
            <a:srgbClr val="FB6A03"/>
          </a:solidFill>
          <a:ln/>
        </p:spPr>
      </p:sp>
      <p:sp>
        <p:nvSpPr>
          <p:cNvPr id="18" name="Text 16"/>
          <p:cNvSpPr/>
          <p:nvPr/>
        </p:nvSpPr>
        <p:spPr>
          <a:xfrm>
            <a:off x="665683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56832" y="274320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retrieval + ranking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56832" y="3520440"/>
            <a:ext cx="21214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narrows the catalogue by embedding similarity; one GPT-4o call ranks the shortlist with legible reasoning.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034272" y="329184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D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253728" y="182880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F3F5F7"/>
          </a:solidFill>
          <a:ln/>
        </p:spPr>
      </p:sp>
      <p:sp>
        <p:nvSpPr>
          <p:cNvPr id="23" name="Shape 21"/>
          <p:cNvSpPr/>
          <p:nvPr/>
        </p:nvSpPr>
        <p:spPr>
          <a:xfrm>
            <a:off x="9528048" y="2103120"/>
            <a:ext cx="457200" cy="457200"/>
          </a:xfrm>
          <a:prstGeom prst="ellipse">
            <a:avLst/>
          </a:prstGeom>
          <a:solidFill>
            <a:srgbClr val="FB6A03"/>
          </a:solidFill>
          <a:ln/>
        </p:spPr>
      </p:sp>
      <p:sp>
        <p:nvSpPr>
          <p:cNvPr id="24" name="Text 22"/>
          <p:cNvSpPr/>
          <p:nvPr/>
        </p:nvSpPr>
        <p:spPr>
          <a:xfrm>
            <a:off x="952804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28048" y="274320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 recommendation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28048" y="3520440"/>
            <a:ext cx="21214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pick ships with a confidence score — which also decides how many questions we ask next time.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learner is a pure fold over an ordered, durable signal log — the model can always be rebuilt from scratch.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6586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Preferences, captured as play — not paperwork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of 22 designed micro-games that make training the AI feel like the fun part of ordering.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3F5F7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FB6A0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412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0848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Mood Check-In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quick sliders — energy, stress, hunger, social — before you even open the menu.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53128" y="1828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3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4727448" y="2103120"/>
            <a:ext cx="457200" cy="457200"/>
          </a:xfrm>
          <a:prstGeom prst="ellipse">
            <a:avLst/>
          </a:prstGeom>
          <a:solidFill>
            <a:srgbClr val="FB6A03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412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21808" y="20848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Swipe-to-Train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727448" y="26974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Tinder-style dish swipes; reaction time itself is a taste signal.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66176" y="1828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3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8540496" y="2103120"/>
            <a:ext cx="457200" cy="457200"/>
          </a:xfrm>
          <a:prstGeom prst="ellipse">
            <a:avLst/>
          </a:prstGeom>
          <a:solidFill>
            <a:srgbClr val="FB6A03"/>
          </a:solidFill>
          <a:ln/>
        </p:spPr>
      </p:sp>
      <p:sp>
        <p:nvSpPr>
          <p:cNvPr id="17" name="Text 15"/>
          <p:cNvSpPr/>
          <p:nvPr/>
        </p:nvSpPr>
        <p:spPr>
          <a:xfrm>
            <a:off x="854049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412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34856" y="20848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This-or-That Duels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540496" y="26974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playful head-to-head picks that quietly learn your price / health / speed trade-offs.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3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343400"/>
            <a:ext cx="457200" cy="457200"/>
          </a:xfrm>
          <a:prstGeom prst="ellipse">
            <a:avLst/>
          </a:prstGeom>
          <a:solidFill>
            <a:srgbClr val="FB6A03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412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4325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Craving Radar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14400" y="49377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cravings you're chasing right now to override your usual baseline.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53128" y="40690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3F5F7"/>
          </a:solidFill>
          <a:ln/>
        </p:spPr>
      </p:sp>
      <p:sp>
        <p:nvSpPr>
          <p:cNvPr id="26" name="Shape 24"/>
          <p:cNvSpPr/>
          <p:nvPr/>
        </p:nvSpPr>
        <p:spPr>
          <a:xfrm>
            <a:off x="4727448" y="4343400"/>
            <a:ext cx="457200" cy="457200"/>
          </a:xfrm>
          <a:prstGeom prst="ellipse">
            <a:avLst/>
          </a:prstGeom>
          <a:solidFill>
            <a:srgbClr val="FB6A03"/>
          </a:solidFill>
          <a:ln/>
        </p:spPr>
      </p:sp>
      <p:sp>
        <p:nvSpPr>
          <p:cNvPr id="27" name="Text 25"/>
          <p:cNvSpPr/>
          <p:nvPr/>
        </p:nvSpPr>
        <p:spPr>
          <a:xfrm>
            <a:off x="4727448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412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321808" y="4325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Mind-Reader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727448" y="49377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hero recommendation, no questions asked — unlocked once confidence is high.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66176" y="40690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3F5F7"/>
          </a:solidFill>
          <a:ln/>
        </p:spPr>
      </p:sp>
      <p:sp>
        <p:nvSpPr>
          <p:cNvPr id="31" name="Shape 29"/>
          <p:cNvSpPr/>
          <p:nvPr/>
        </p:nvSpPr>
        <p:spPr>
          <a:xfrm>
            <a:off x="8540496" y="4343400"/>
            <a:ext cx="457200" cy="457200"/>
          </a:xfrm>
          <a:prstGeom prst="ellipse">
            <a:avLst/>
          </a:prstGeom>
          <a:solidFill>
            <a:srgbClr val="FB6A03"/>
          </a:solidFill>
          <a:ln/>
        </p:spPr>
      </p:sp>
      <p:sp>
        <p:nvSpPr>
          <p:cNvPr id="32" name="Text 30"/>
          <p:cNvSpPr/>
          <p:nvPr/>
        </p:nvSpPr>
        <p:spPr>
          <a:xfrm>
            <a:off x="8540496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412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134856" y="4325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Mode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540496" y="49377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swipes from their phone; a consensus pick balances the whole table.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6586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1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like a recommender system, not a chatbot wrapper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C324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4650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6A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Two-tower embedding stack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130552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text-embedding-3-small item tower + an online-updated 256-d user vector in the same space, retrieved via FAISS.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C3247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4650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6A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Negative-preference space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37960" y="2130552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“disliked” vector actively pushes away recent vetoes — without permanently sinking a dish over one bad day.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21868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C324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6499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6A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Context-aware trade-offs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Bradley–Terry learning fits price / health / speed / adventure weights per context bucket (weekday lunch, late night, rainy day…).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21868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C3247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36499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6A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 confidence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37960" y="3749040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rolling accuracy score decides how many questions to ask — the product gets quieter as it gets smarter.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837176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C324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98348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6A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Empirical-Bayes mood map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5367528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Shrinkage-adjusted mood→food weights avoid over-fitting to a handful of early signals.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837176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C3247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98348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6A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Durable, replayable signal log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37960" y="5367528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model is a rebuildable cache over an ordered event log — no single point of data loss.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6586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Deep, proactive personalization is still open ground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926080" y="1417320"/>
            <a:ext cx="7498080" cy="4663440"/>
          </a:xfrm>
          <a:prstGeom prst="rect">
            <a:avLst/>
          </a:prstGeom>
          <a:solidFill>
            <a:srgbClr val="F3F5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3749040"/>
            <a:ext cx="7498080" cy="0"/>
          </a:xfrm>
          <a:prstGeom prst="line">
            <a:avLst/>
          </a:prstGeom>
          <a:noFill/>
          <a:ln w="15875">
            <a:solidFill>
              <a:srgbClr val="E1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1417320"/>
            <a:ext cx="0" cy="4663440"/>
          </a:xfrm>
          <a:prstGeom prst="line">
            <a:avLst/>
          </a:prstGeom>
          <a:noFill/>
          <a:ln w="15875">
            <a:solidFill>
              <a:srgbClr val="E1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097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61264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13990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PERSONAL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31920" y="5166360"/>
            <a:ext cx="502920" cy="502920"/>
          </a:xfrm>
          <a:prstGeom prst="ellipse">
            <a:avLst/>
          </a:prstGeom>
          <a:solidFill>
            <a:srgbClr val="5C6B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56967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/ Zomato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03520" y="4846320"/>
            <a:ext cx="502920" cy="502920"/>
          </a:xfrm>
          <a:prstGeom prst="ellipse">
            <a:avLst/>
          </a:prstGeom>
          <a:solidFill>
            <a:srgbClr val="5C6B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53766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Eats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52160" y="4343400"/>
            <a:ext cx="502920" cy="502920"/>
          </a:xfrm>
          <a:prstGeom prst="ellipse">
            <a:avLst/>
          </a:prstGeom>
          <a:solidFill>
            <a:srgbClr val="FB6A0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48737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DoorDash (Sybil)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503920" y="2468880"/>
            <a:ext cx="777240" cy="777240"/>
          </a:xfrm>
          <a:prstGeom prst="ellipse">
            <a:avLst/>
          </a:prstGeom>
          <a:solidFill>
            <a:srgbClr val="0412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32735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41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MoodFood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MoodFood is the only player pairing proactive, mood-aware personalization with a playful data-capture loop — competitors either stay generic or personalize only from what already happened.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6586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fast-growing market with a clear wedge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08760"/>
          <a:ext cx="51206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035040" y="1508760"/>
          <a:ext cx="51206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45262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9.4% CAGR</a:t>
            </a:r>
            <a:pPr algn="ctr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global (2025-2030)      </a:t>
            </a:r>
            <a:pPr algn="ctr" indent="0" marL="0">
              <a:buNone/>
            </a:pPr>
            <a:r>
              <a:rPr lang="en-US" sz="1400" b="1" dirty="0">
                <a:solidFill>
                  <a:srgbClr val="041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 CAGR</a:t>
            </a:r>
            <a:pPr algn="ctr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India (2026-2034)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640080" y="502920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3F5F7"/>
          </a:solidFill>
          <a:ln/>
        </p:spPr>
      </p:sp>
      <p:sp>
        <p:nvSpPr>
          <p:cNvPr id="8" name="Text 4"/>
          <p:cNvSpPr/>
          <p:nvPr/>
        </p:nvSpPr>
        <p:spPr>
          <a:xfrm>
            <a:off x="914400" y="50292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(illustrative target): </a:t>
            </a:r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app-first Gen Z / Millennial orderers in Tier-1 Indian metros — the segment most primed for AI-native, mobile-first food discovery.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Grand View Research, “Online Food Delivery Services Market Report, 2025-2030”; IMARC Group, “India Online Food Delivery Market.” SOM figure is an illustrative placeholder, not a modeled estimate.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16586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MoodFood turns personalization into revenue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4663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645920"/>
            <a:ext cx="457200" cy="457200"/>
          </a:xfrm>
          <a:prstGeom prst="ellipse">
            <a:avLst/>
          </a:prstGeom>
          <a:solidFill>
            <a:srgbClr val="FB6A03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0" y="16093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commission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0" y="20116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referral / affiliate cut on every order routed through delivery partners (e.g. Swiggy Food) that MoodFood recommends and hands off.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60720" y="3017520"/>
            <a:ext cx="457200" cy="457200"/>
          </a:xfrm>
          <a:prstGeom prst="ellipse">
            <a:avLst/>
          </a:prstGeom>
          <a:solidFill>
            <a:srgbClr val="FB6A03"/>
          </a:solidFill>
          <a:ln/>
        </p:spPr>
      </p:sp>
      <p:sp>
        <p:nvSpPr>
          <p:cNvPr id="10" name="Text 7"/>
          <p:cNvSpPr/>
          <p:nvPr/>
        </p:nvSpPr>
        <p:spPr>
          <a:xfrm>
            <a:off x="57607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0" y="29809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MoodFood+ subscription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0" y="33832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tier unlocking mind-reader mode sooner, group mode, deeper quests, and richer persona insights.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60720" y="4389120"/>
            <a:ext cx="457200" cy="457200"/>
          </a:xfrm>
          <a:prstGeom prst="ellipse">
            <a:avLst/>
          </a:prstGeom>
          <a:solidFill>
            <a:srgbClr val="FB6A03"/>
          </a:solidFill>
          <a:ln/>
        </p:spPr>
      </p:sp>
      <p:sp>
        <p:nvSpPr>
          <p:cNvPr id="14" name="Text 11"/>
          <p:cNvSpPr/>
          <p:nvPr/>
        </p:nvSpPr>
        <p:spPr>
          <a:xfrm>
            <a:off x="57607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0" y="43525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insights (future)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00800" y="47548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Privacy-safe, aggregate demand signals (never individual identities) licensed to restaurant and brand partners.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 is an illustrative target, not a modeled forecast.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6586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success looks like as the model learns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FD33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041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PROJECTED PILOT TARGETS, NOT ACTUAL RESULTS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96596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035040" y="196596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5257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 we're validating in pilot: engagement rises while the AI needs to ask less — the confidence-gated “mind-reader” mechanic working as designed.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6586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signals spine to a self-sustaining habit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359152"/>
            <a:ext cx="10515600" cy="0"/>
          </a:xfrm>
          <a:prstGeom prst="line">
            <a:avLst/>
          </a:prstGeom>
          <a:noFill/>
          <a:ln w="38100">
            <a:solidFill>
              <a:srgbClr val="E1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8468" y="2103120"/>
            <a:ext cx="512064" cy="512064"/>
          </a:xfrm>
          <a:prstGeom prst="ellipse">
            <a:avLst/>
          </a:prstGeom>
          <a:solidFill>
            <a:srgbClr val="FB6A03"/>
          </a:solidFill>
          <a:ln/>
        </p:spPr>
      </p:sp>
      <p:sp>
        <p:nvSpPr>
          <p:cNvPr id="6" name="Text 4"/>
          <p:cNvSpPr/>
          <p:nvPr/>
        </p:nvSpPr>
        <p:spPr>
          <a:xfrm>
            <a:off x="145846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9992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spine; mobile game-signal parity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41598" y="2103120"/>
            <a:ext cx="512064" cy="512064"/>
          </a:xfrm>
          <a:prstGeom prst="ellipse">
            <a:avLst/>
          </a:prstGeom>
          <a:solidFill>
            <a:srgbClr val="041221"/>
          </a:solidFill>
          <a:ln/>
        </p:spPr>
      </p:sp>
      <p:sp>
        <p:nvSpPr>
          <p:cNvPr id="11" name="Text 9"/>
          <p:cNvSpPr/>
          <p:nvPr/>
        </p:nvSpPr>
        <p:spPr>
          <a:xfrm>
            <a:off x="364159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06090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68930" y="29992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Core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06090" y="34747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FAISS, learning pipeline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24728" y="2103120"/>
            <a:ext cx="512064" cy="512064"/>
          </a:xfrm>
          <a:prstGeom prst="ellipse">
            <a:avLst/>
          </a:prstGeom>
          <a:solidFill>
            <a:srgbClr val="041221"/>
          </a:solidFill>
          <a:ln/>
        </p:spPr>
      </p:sp>
      <p:sp>
        <p:nvSpPr>
          <p:cNvPr id="16" name="Text 14"/>
          <p:cNvSpPr/>
          <p:nvPr/>
        </p:nvSpPr>
        <p:spPr>
          <a:xfrm>
            <a:off x="582472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89220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52060" y="29992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Delight Loop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89220" y="34747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check-in, swipe training, duels, post-meal loop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07858" y="2103120"/>
            <a:ext cx="512064" cy="512064"/>
          </a:xfrm>
          <a:prstGeom prst="ellipse">
            <a:avLst/>
          </a:prstGeom>
          <a:solidFill>
            <a:srgbClr val="041221"/>
          </a:solidFill>
          <a:ln/>
        </p:spPr>
      </p:sp>
      <p:sp>
        <p:nvSpPr>
          <p:cNvPr id="21" name="Text 19"/>
          <p:cNvSpPr/>
          <p:nvPr/>
        </p:nvSpPr>
        <p:spPr>
          <a:xfrm>
            <a:off x="800785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72350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35190" y="29992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Habits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72350" y="34747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Craving radar, mind-reader, persona reveal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190988" y="2103120"/>
            <a:ext cx="512064" cy="512064"/>
          </a:xfrm>
          <a:prstGeom prst="ellipse">
            <a:avLst/>
          </a:prstGeom>
          <a:solidFill>
            <a:srgbClr val="041221"/>
          </a:solidFill>
          <a:ln/>
        </p:spPr>
      </p:sp>
      <p:sp>
        <p:nvSpPr>
          <p:cNvPr id="26" name="Text 24"/>
          <p:cNvSpPr/>
          <p:nvPr/>
        </p:nvSpPr>
        <p:spPr>
          <a:xfrm>
            <a:off x="1019098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M4/M5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55480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18320" y="29992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&amp; Scale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555480" y="34747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Quests, group mode, anti-rut, twin-taste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3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12064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— Hardening: </a:t>
            </a:r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replay-drill the learning store, load-test signal batching, and confirm every learner rebuilds cleanly from the durable log.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labels are an illustrative sequencing, calibrated to internal milestone plan, not committed delivery dates.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6586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2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Founding team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3F5F7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103120"/>
            <a:ext cx="1005840" cy="1005840"/>
          </a:xfrm>
          <a:prstGeom prst="ellipse">
            <a:avLst/>
          </a:prstGeom>
          <a:solidFill>
            <a:srgbClr val="041221"/>
          </a:solidFill>
          <a:ln/>
        </p:spPr>
      </p:sp>
      <p:sp>
        <p:nvSpPr>
          <p:cNvPr id="6" name="Text 4"/>
          <p:cNvSpPr/>
          <p:nvPr/>
        </p:nvSpPr>
        <p:spPr>
          <a:xfrm>
            <a:off x="189738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D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founder name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Product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1605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[ 1-2 line background / relevant track record 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53128" y="173736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3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5710428" y="2103120"/>
            <a:ext cx="1005840" cy="1005840"/>
          </a:xfrm>
          <a:prstGeom prst="ellipse">
            <a:avLst/>
          </a:prstGeom>
          <a:solidFill>
            <a:srgbClr val="041221"/>
          </a:solidFill>
          <a:ln/>
        </p:spPr>
      </p:sp>
      <p:sp>
        <p:nvSpPr>
          <p:cNvPr id="12" name="Text 10"/>
          <p:cNvSpPr/>
          <p:nvPr/>
        </p:nvSpPr>
        <p:spPr>
          <a:xfrm>
            <a:off x="5710428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D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81728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founder name 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81728" y="3703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AI &amp; ML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73168" y="41605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[ 1-2 line background / relevant track record 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66176" y="173736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3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3476" y="2103120"/>
            <a:ext cx="1005840" cy="1005840"/>
          </a:xfrm>
          <a:prstGeom prst="ellipse">
            <a:avLst/>
          </a:prstGeom>
          <a:solidFill>
            <a:srgbClr val="041221"/>
          </a:solidFill>
          <a:ln/>
        </p:spPr>
      </p:sp>
      <p:sp>
        <p:nvSpPr>
          <p:cNvPr id="18" name="Text 16"/>
          <p:cNvSpPr/>
          <p:nvPr/>
        </p:nvSpPr>
        <p:spPr>
          <a:xfrm>
            <a:off x="9523476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D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494776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founder name 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94776" y="3703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Growth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86216" y="41605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[ 1-2 line background / relevant track record 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257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slide — replace with real founder photos, names and bios before sending.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6586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1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B6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a seed round to build the intelligence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1C324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D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seed target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206240" y="1554480"/>
          <a:ext cx="3657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229600" y="1600200"/>
            <a:ext cx="3291840" cy="3520440"/>
          </a:xfrm>
          <a:prstGeom prst="roundRect">
            <a:avLst>
              <a:gd name="adj" fmla="val 2778"/>
            </a:avLst>
          </a:prstGeom>
          <a:solidFill>
            <a:srgbClr val="1C3247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6A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buys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03920" y="22402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of runway to ship M0–M3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mind-reader mode live with real pilot users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pilot partnerships in 2 metro markets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on this slide are illustrative placeholders — replace with your actual raise size, allocation and milestones.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6586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12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029200" cy="5029200"/>
          </a:xfrm>
          <a:prstGeom prst="ellipse">
            <a:avLst/>
          </a:prstGeom>
          <a:solidFill>
            <a:srgbClr val="FB6A03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480560"/>
            <a:ext cx="4206240" cy="4206240"/>
          </a:xfrm>
          <a:prstGeom prst="ellipse">
            <a:avLst/>
          </a:prstGeom>
          <a:solidFill>
            <a:srgbClr val="40910E">
              <a:alpha val="12000"/>
            </a:srgbClr>
          </a:solidFill>
          <a:ln/>
        </p:spPr>
      </p:sp>
      <p:pic>
        <p:nvPicPr>
          <p:cNvPr id="4" name="Image 0" descr="/sessions/peaceful-confident-einstein/mnt/outputs/moodfood-logo-darkbg-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1476" y="685800"/>
            <a:ext cx="2286000" cy="22304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88036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best recommendation is the one you never had to ask for.”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80160" y="4251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MoodFood — ending decision fatigue, one game at a time.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6035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suryajirajebhosale@gmail.com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2026-07-23T10:25:30Z</dcterms:created>
  <dcterms:modified xsi:type="dcterms:W3CDTF">2026-07-23T10:25:30Z</dcterms:modified>
</cp:coreProperties>
</file>